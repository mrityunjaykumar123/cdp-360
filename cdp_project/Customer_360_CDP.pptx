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413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18039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slide. Open by setting the stage: 'Today I'm presenting Customer 360, a platform that will transform how we make lending decisions — from a slow, manual process to a real-time, AI-powered intelligence engine.'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that each of these problems is costing us measurable revenue. The status quo — siloed data and manual decisions — is a competitive disadvantage.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platform vision. Emphasise that these four pillars work together — you can't have real-time decisions without unified data, and open-source removes the cost barrier to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 every outcome in business language. If you have existing data on default rates or conversion rates, reference them here to show the delta this platform could deliver.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layer. Emphasise: (1) Kafka makes us event-driven with millisecond latency, (2) Delta Lake gives us the Bronze/Silver/Gold pattern for data quality, (3) the AI/ML layer is served in real time for instant approvals.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CTO message: this stack eliminates 6-figure annual licensing costs and gives us the flexibility to evolve independently. Every tool listed has a large enterprise community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anchor the technical scope to the business vision. Every item in scope ties directly to a goal —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your close. Be direct: 'We're asking for your approval to proceed. The cost of inaction is measured in lost customers and rising defaults. The open-source stack means our only cost is our team's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2286000"/>
            <a:ext cx="2560320" cy="2560320"/>
          </a:xfrm>
          <a:prstGeom prst="ellipse">
            <a:avLst/>
          </a:prstGeom>
          <a:solidFill>
            <a:srgbClr val="02C39A">
              <a:alpha val="1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337623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360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Customer Decision Platform (CDP)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320040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718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8BF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judgment-driven lending into real-time, AI-powered decision intelligence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9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to: Chief Technology Officer  |  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We're Solving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Fragmented data is costing us decisions, speed, and customers.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0352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143560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Fragmentation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76479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is siloed across CRM, core banking, credit bureaus, web/mobile, and partner systems.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19472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⏱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532120" y="143560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Decisioning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32120" y="176479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aggregation of data slows credit decisions — losing customers to faster competitors.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3154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⚠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299008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Risk Visibility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" y="331927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picture of customer behaviour limits early warning detection for default risk.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88036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19472" y="3154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154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32120" y="2990088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Personalization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32120" y="3319272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offers and no real-time engagement signals mean missed cross-sell opportunities.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</a:rPr>
              <a:t>Customer 360 — One unified intelligence layer across every customer signal.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965960" cy="3200400"/>
          </a:xfrm>
          <a:prstGeom prst="roundRect">
            <a:avLst>
              <a:gd name="adj" fmla="val 6977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1508760"/>
            <a:ext cx="621792" cy="6217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0876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" y="22677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Data 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2834640"/>
            <a:ext cx="17830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+ unstructured signals from every channel into one queryable, governed 360° customer profile.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4600" y="1371600"/>
            <a:ext cx="1965960" cy="3200400"/>
          </a:xfrm>
          <a:prstGeom prst="roundRect">
            <a:avLst>
              <a:gd name="adj" fmla="val 6977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82112" y="1508760"/>
            <a:ext cx="621792" cy="6217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150876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24328" y="22677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AI/ML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24328" y="2834640"/>
            <a:ext cx="17830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risk, fraud detection &amp; engagement propensity models running on PyTorch, XGBoost &amp; MLflow.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65960" cy="3200400"/>
          </a:xfrm>
          <a:prstGeom prst="roundRect">
            <a:avLst>
              <a:gd name="adj" fmla="val 6977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30952" y="1508760"/>
            <a:ext cx="621792" cy="62179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150876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73168" y="22677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Decisions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73168" y="2834640"/>
            <a:ext cx="17830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explainable decisions surfaced in milliseconds — personalized loan approvals with full audit trails.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12280" y="1371600"/>
            <a:ext cx="1965960" cy="3200400"/>
          </a:xfrm>
          <a:prstGeom prst="roundRect">
            <a:avLst>
              <a:gd name="adj" fmla="val 6977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79792" y="1508760"/>
            <a:ext cx="621792" cy="62179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7479792" y="1508760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22008" y="2267712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Stack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22008" y="2834640"/>
            <a:ext cx="17830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licensing costs. No vendor lock-in. Built on Kafka, Spark, PostgreSQL, Airflow, Prometheus &amp; Grafana.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Five measurable outcomes that move the needle on revenue, risk, and retention.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2651760" cy="7315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↑ Conversion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Higher Loan Conversions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35915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Personalised engagement at scale drives more accepted offers.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325880"/>
            <a:ext cx="265176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Defaults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383280" y="20116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Lower Default Rates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235915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AI risk models detect early warning signs before they become write-offs.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26480" y="132588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325880"/>
            <a:ext cx="2651760" cy="7315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463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Mins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63640" y="201168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Instant Approvals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63640" y="235915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Automated checks approve low-risk customers in minutes, not days.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371600" y="3337560"/>
            <a:ext cx="29260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536192" y="34930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1536192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21408" y="34290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Personalised Cross-Selling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21408" y="3822192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Behaviour-driven offer engine presents the right product to the right customer at the right moment.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3337560"/>
            <a:ext cx="292608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28032" y="34930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4828032" y="3493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🛡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13248" y="342900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</a:rPr>
              <a:t>Reduced Bad Debt Write-offs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13248" y="3822192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Proactive risk scoring and early intervention workflows shrink non-performing loan portfolios.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</a:rPr>
              <a:t>7-layer open-source data &amp; intelligence pipeline — from raw event to business decision.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1097280" cy="2286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0EA5E9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097280" cy="530352"/>
          </a:xfrm>
          <a:prstGeom prst="roundRect">
            <a:avLst>
              <a:gd name="adj" fmla="val 17241"/>
            </a:avLst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8872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2677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Batch + API  ( Data as object 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17320" y="2331720"/>
            <a:ext cx="64008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1328" y="1188720"/>
            <a:ext cx="1097280" cy="2286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81328" y="1188720"/>
            <a:ext cx="1097280" cy="530352"/>
          </a:xfrm>
          <a:prstGeom prst="roundRect">
            <a:avLst>
              <a:gd name="adj" fmla="val 17241"/>
            </a:avLst>
          </a:prstGeom>
          <a:solidFill>
            <a:srgbClr val="028090"/>
          </a:solidFill>
          <a:ln/>
        </p:spPr>
      </p:sp>
      <p:sp>
        <p:nvSpPr>
          <p:cNvPr id="12" name="Text 10"/>
          <p:cNvSpPr/>
          <p:nvPr/>
        </p:nvSpPr>
        <p:spPr>
          <a:xfrm>
            <a:off x="1481328" y="118872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27048" y="1783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27048" y="22677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+ Delta Lake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578608" y="2331720"/>
            <a:ext cx="64008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42616" y="1188720"/>
            <a:ext cx="1097280" cy="2286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02C39A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17" name="Shape 15"/>
          <p:cNvSpPr/>
          <p:nvPr/>
        </p:nvSpPr>
        <p:spPr>
          <a:xfrm>
            <a:off x="2642616" y="1188720"/>
            <a:ext cx="1097280" cy="530352"/>
          </a:xfrm>
          <a:prstGeom prst="roundRect">
            <a:avLst>
              <a:gd name="adj" fmla="val 17241"/>
            </a:avLst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2642616" y="118872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688336" y="1783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88336" y="22677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Medallion layers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739896" y="2331720"/>
            <a:ext cx="64008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03904" y="1188720"/>
            <a:ext cx="1097280" cy="2286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8B5CF6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803904" y="1188720"/>
            <a:ext cx="1097280" cy="530352"/>
          </a:xfrm>
          <a:prstGeom prst="roundRect">
            <a:avLst>
              <a:gd name="adj" fmla="val 17241"/>
            </a:avLst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3803904" y="118872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849624" y="1783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9624" y="22677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Features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901184" y="2331720"/>
            <a:ext cx="64008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65192" y="1188720"/>
            <a:ext cx="1097280" cy="2286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F59E0B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65192" y="1188720"/>
            <a:ext cx="1097280" cy="530352"/>
          </a:xfrm>
          <a:prstGeom prst="roundRect">
            <a:avLst>
              <a:gd name="adj" fmla="val 17241"/>
            </a:avLst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4965192" y="118872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010912" y="1783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10912" y="22677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/ RBI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062472" y="2331720"/>
            <a:ext cx="64008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1188720"/>
            <a:ext cx="1097280" cy="2286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EF4444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26480" y="1188720"/>
            <a:ext cx="1097280" cy="530352"/>
          </a:xfrm>
          <a:prstGeom prst="roundRect">
            <a:avLst>
              <a:gd name="adj" fmla="val 17241"/>
            </a:avLst>
          </a:prstGeom>
          <a:solidFill>
            <a:srgbClr val="EF4444"/>
          </a:solidFill>
          <a:ln/>
        </p:spPr>
      </p:sp>
      <p:sp>
        <p:nvSpPr>
          <p:cNvPr id="36" name="Text 34"/>
          <p:cNvSpPr/>
          <p:nvPr/>
        </p:nvSpPr>
        <p:spPr>
          <a:xfrm>
            <a:off x="6126480" y="118872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6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6172200" y="1783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72200" y="22677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+ PyTorch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23760" y="2331720"/>
            <a:ext cx="64008" cy="0"/>
          </a:xfrm>
          <a:prstGeom prst="line">
            <a:avLst/>
          </a:prstGeom>
          <a:noFill/>
          <a:ln w="19050">
            <a:solidFill>
              <a:srgbClr val="C7D2F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87768" y="1188720"/>
            <a:ext cx="1097280" cy="22860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2860">
            <a:solidFill>
              <a:srgbClr val="F5A623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287768" y="1188720"/>
            <a:ext cx="1097280" cy="530352"/>
          </a:xfrm>
          <a:prstGeom prst="roundRect">
            <a:avLst>
              <a:gd name="adj" fmla="val 17241"/>
            </a:avLst>
          </a:prstGeom>
          <a:solidFill>
            <a:srgbClr val="F5A623"/>
          </a:solidFill>
          <a:ln/>
        </p:spPr>
      </p:sp>
      <p:sp>
        <p:nvSpPr>
          <p:cNvPr id="42" name="Text 40"/>
          <p:cNvSpPr/>
          <p:nvPr/>
        </p:nvSpPr>
        <p:spPr>
          <a:xfrm>
            <a:off x="7287768" y="1188720"/>
            <a:ext cx="1097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7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7333488" y="178308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333488" y="226771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Grafana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20040" y="45262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</a:rPr>
              <a:t>Data Sources: CRM · Core Banking · LMS · Web/Mobile · IoT · Bureau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Open-Source Technology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</a:rPr>
              <a:t>Zero licensing costs. Zero vendor lock-in. Community-driven, enterprise-grade.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274320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9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08176"/>
            <a:ext cx="54864" cy="102412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40080" y="177393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 +  React.js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74320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9000"/>
            </a:srgbClr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408176"/>
            <a:ext cx="54864" cy="1024128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41732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STORAGE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520440" y="177393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+  Delta Lake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74320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9000"/>
            </a:srgbClr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1408176"/>
            <a:ext cx="54864" cy="10241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0" y="177393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  +  Apache Flink  /  Spark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74320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9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2871216"/>
            <a:ext cx="54864" cy="102412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323697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 ·  PyTorch  ·  TensorFlow  ·  XGBoost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2743200"/>
            <a:ext cx="274320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9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2871216"/>
            <a:ext cx="54864" cy="10241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28803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20440" y="323697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743200"/>
            <a:ext cx="274320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9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2871216"/>
            <a:ext cx="54864" cy="102412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2880360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0" y="3236976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 +  Grafana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4434840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028090">
              <a:alpha val="2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453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✓  No licensing fees     ✓  No vendor lock-in     ✓  Community-supported at scale     ✓  GDPR &amp; RBI compliant by design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Scope &amp; Strategic Goals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397764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7899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028090"/>
                </a:solidFill>
              </a:rPr>
              <a:t>SCOPE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3566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intelligence engine interpreting credit histories &amp; financial health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258568"/>
            <a:ext cx="3566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pattern engine for intent signals &amp; engagement metrics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08376"/>
            <a:ext cx="3566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interoperability with CRM, Core Banking &amp; LOS/LMS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3758184"/>
            <a:ext cx="35661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Scalability, security &amp; regulatory compliance (GDPR + RBI)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11480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D8E0F5"/>
            </a:solidFill>
            <a:prstDash val="solid"/>
          </a:ln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07899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50" dirty="0">
                <a:solidFill>
                  <a:srgbClr val="1E2761"/>
                </a:solidFill>
              </a:rPr>
              <a:t>STRATEGIC GOALS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1572768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5727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21808" y="1508760"/>
            <a:ext cx="3273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AI/ML-driven intelligence empowering personalised loan engagement at scale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46320" y="2322576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23225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21808" y="2258568"/>
            <a:ext cx="3273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business growth via measurable gains in conversion, retention &amp; LTV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846320" y="3072384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30723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21808" y="3008376"/>
            <a:ext cx="3273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stack removes licensing cost as a constraint on scaling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46320" y="3822192"/>
            <a:ext cx="347472" cy="34747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38221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21808" y="3758184"/>
            <a:ext cx="3273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governance, privacy &amp; compliance built into the architecture by design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9260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Recommendation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</a:rPr>
              <a:t>Approve Customer 360 as a strategic infrastructure investment.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49961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Urgency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828800"/>
            <a:ext cx="7223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lenders are already approving loans in minutes. Customer 360 gives us the real-time infrastructure to compete and win.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404872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87752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877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248716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Advantage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2816352"/>
            <a:ext cx="7223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architecture eliminates vendor fees entirely. Scale without incremental licensing cost — a structural edge.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>
              <a:alpha val="7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75304"/>
            <a:ext cx="502920" cy="5029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753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47472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3803904"/>
            <a:ext cx="7223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early-warning models protect the portfolio. Better risk visibility means fewer write-offs and stronger compliance posture.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We are requesting CTO sign-off to begin Phase 1 implementation.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572000" cy="457200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2286000"/>
            <a:ext cx="3657600" cy="3657600"/>
          </a:xfrm>
          <a:prstGeom prst="ellipse">
            <a:avLst/>
          </a:prstGeom>
          <a:solidFill>
            <a:srgbClr val="A78BFA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3774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ADCFC"/>
                </a:solidFill>
              </a:rPr>
              <a:t>Questions &amp; Discussion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063240"/>
            <a:ext cx="2743200" cy="36576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B93D6"/>
                </a:solidFill>
              </a:rPr>
              <a:t>Customer 360  ·  Next-Generation Customer Decision Platform  ·  Confidential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966</Words>
  <Application>Microsoft Office PowerPoint</Application>
  <PresentationFormat>On-screen Show (16:9)</PresentationFormat>
  <Paragraphs>135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360 – Next-Gen Customer Decision Platform</dc:title>
  <dc:subject>PptxGenJS Presentation</dc:subject>
  <dc:creator>PptxGenJS</dc:creator>
  <cp:lastModifiedBy>Mrityunjay Kumar</cp:lastModifiedBy>
  <cp:revision>4</cp:revision>
  <dcterms:created xsi:type="dcterms:W3CDTF">2026-06-25T08:02:10Z</dcterms:created>
  <dcterms:modified xsi:type="dcterms:W3CDTF">2026-06-25T08:16:44Z</dcterms:modified>
</cp:coreProperties>
</file>