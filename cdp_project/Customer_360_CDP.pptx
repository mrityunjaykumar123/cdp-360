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1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80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Open by setting the stage: 'Today I'm presenting Customer 360, a platform that will transform how we make lending decisions — from a slow, manual process to a real-time, AI-powered intelligence engine.'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each of these problems is costing us measurable revenue. The status quo — siloed data and manual decisions — is a competitive disadvantage.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platform vision. Emphasise that these four pillars work together — you can't have real-time decisions without unified data, and open-source removes the cost barrier to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every outcome in business language. If you have existing data on default rates or conversion rates, reference them here to show the delta this platform could deliver.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layer. Emphasise: (1) Kafka makes us event-driven with millisecond latency, (2) Delta Lake gives us the Bronze/Silver/Gold pattern for data quality, (3) the AI/ML layer is served in real time for instant approvals.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CTO message: this stack eliminates 6-figure annual licensing costs and gives us the flexibility to evolve independently. Every tool listed has a large enterprise community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anchor the technical scope to the business vision. Every item in scope ties directly to a goal — make that connection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close. Be direct: 'We're asking for your approval to proceed. The cost of inaction is measured in lost customers and rising defaults. The open-source stack means our only cost is our team's time.'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23760" y="2286000"/>
            <a:ext cx="2560320" cy="256032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</a:rPr>
              <a:t>BUSINESS REQUIREMENTS DOCUMENT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360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Customer Decision Platform (CDP)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32004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71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judgment-driven lending into real-time, AI-powered decision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Chief Technology Officer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Fragmented data is costing us decisions, speed, and customers.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435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76479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is siloed across CRM, core banking, credit bureaus, web/mobile, and partner systems.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435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Decisioning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76479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aggregation of data slows credit decisions — losing customers to faster competitors.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9900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Risk Visibility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31927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picture of customer behaviour limits early warning detection for default risk.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29900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Personalization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31927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offers and no real-time engagement signals mean missed cross-sell opportunities.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Customer 360 — One unified intelligence layer across every customer signal.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3200400"/>
          </a:xfrm>
          <a:prstGeom prst="roundRect">
            <a:avLst>
              <a:gd name="adj" fmla="val 6977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150876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087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226771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83464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unstructured signals from every channel into one queryable, governed 360° customer profile.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965960" cy="3200400"/>
          </a:xfrm>
          <a:prstGeom prst="roundRect">
            <a:avLst>
              <a:gd name="adj" fmla="val 6977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1508760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15087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24328" y="226771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AI/ML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4328" y="283464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fraud detection &amp; engagement propensity models running on PyTorch, XGBoost &amp; MLflow.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65960" cy="3200400"/>
          </a:xfrm>
          <a:prstGeom prst="roundRect">
            <a:avLst>
              <a:gd name="adj" fmla="val 6977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30952" y="1508760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330952" y="15087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226771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3168" y="283464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explainable decisions surfaced in milliseconds — personalized loan approvals with full audit trails.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12280" y="1371600"/>
            <a:ext cx="1965960" cy="3200400"/>
          </a:xfrm>
          <a:prstGeom prst="roundRect">
            <a:avLst>
              <a:gd name="adj" fmla="val 6977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9792" y="1508760"/>
            <a:ext cx="621792" cy="6217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7479792" y="15087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22008" y="226771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22008" y="283464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costs. No vendor lock-in. Built on Kafka, Spark, PostgreSQL, Airflow, Prometheus &amp; Grafana.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Five measurable outcomes that move the needle on revenue, risk, and retention.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Conversion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Higher Loan Conversions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Personalised engagement at scale drives more accepted offers.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2588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Defaults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Lower Default Rates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3591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AI risk models detect early warning signs before they become write-offs.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265176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Mins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63640" y="20116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Instant Approvals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3591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Automated checks approve low-risk customers in minutes, not days.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71600" y="333756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536192" y="3493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536192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21408" y="34290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Personalised Cross-Selling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21408" y="382219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Behaviour-driven offer engine presents the right product to the right customer at the right moment.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33756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3493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13248" y="34290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Reduced Bad Debt Write-offs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382219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Proactive risk scoring and early intervention workflows shrink non-performing loan portfolios.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7-layer open-source data &amp; intelligence pipeline — from raw event to business decision.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09728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097280" cy="530352"/>
          </a:xfrm>
          <a:prstGeom prst="roundRect">
            <a:avLst>
              <a:gd name="adj" fmla="val 17241"/>
            </a:avLst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Batch + API  ( Data as object 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17320" y="2331720"/>
            <a:ext cx="64008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81328" y="1188720"/>
            <a:ext cx="109728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81328" y="1188720"/>
            <a:ext cx="1097280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481328" y="11887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27048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27048" y="22677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+ Delta Lake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2331720"/>
            <a:ext cx="64008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42616" y="1188720"/>
            <a:ext cx="109728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2642616" y="1188720"/>
            <a:ext cx="1097280" cy="530352"/>
          </a:xfrm>
          <a:prstGeom prst="roundRect">
            <a:avLst>
              <a:gd name="adj" fmla="val 17241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2642616" y="11887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88336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88336" y="22677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Medalian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39896" y="2331720"/>
            <a:ext cx="64008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03904" y="1188720"/>
            <a:ext cx="109728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03904" y="1188720"/>
            <a:ext cx="1097280" cy="530352"/>
          </a:xfrm>
          <a:prstGeom prst="roundRect">
            <a:avLst>
              <a:gd name="adj" fmla="val 17241"/>
            </a:avLst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3803904" y="11887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849624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9624" y="22677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Features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01184" y="2331720"/>
            <a:ext cx="64008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5192" y="1188720"/>
            <a:ext cx="109728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65192" y="1188720"/>
            <a:ext cx="1097280" cy="530352"/>
          </a:xfrm>
          <a:prstGeom prst="roundRect">
            <a:avLst>
              <a:gd name="adj" fmla="val 17241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965192" y="11887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010912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10912" y="22677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RBI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62472" y="2331720"/>
            <a:ext cx="64008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188720"/>
            <a:ext cx="109728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188720"/>
            <a:ext cx="1097280" cy="530352"/>
          </a:xfrm>
          <a:prstGeom prst="roundRect">
            <a:avLst>
              <a:gd name="adj" fmla="val 17241"/>
            </a:avLst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887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172200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22677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+ PyTorch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223760" y="2331720"/>
            <a:ext cx="64008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87768" y="1188720"/>
            <a:ext cx="109728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F5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87768" y="1188720"/>
            <a:ext cx="1097280" cy="530352"/>
          </a:xfrm>
          <a:prstGeom prst="roundRect">
            <a:avLst>
              <a:gd name="adj" fmla="val 17241"/>
            </a:avLst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7287768" y="11887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333488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33488" y="22677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+ Grafana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Data Sources: CRM · Core Banking · LMS · Web/Mobile · IoT · Bureau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Open-Source 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Zero licensing costs. Zero vendor lock-in. Community-driven, enterprise-grade.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08176"/>
            <a:ext cx="5486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77393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 +  React.js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408176"/>
            <a:ext cx="54864" cy="10241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4173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20440" y="177393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+  Delta Lake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08176"/>
            <a:ext cx="54864" cy="10241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173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0" y="177393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 +  Apache Flink  /  Spark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71216"/>
            <a:ext cx="54864" cy="10241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323697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 ·  PyTorch  ·  TensorFlow  ·  XGBoost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871216"/>
            <a:ext cx="54864" cy="10241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8803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20440" y="323697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871216"/>
            <a:ext cx="54864" cy="10241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8803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0" y="323697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 +  Grafana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028090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53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No licensing fees     ✓  No vendor lock-in     ✓  Community-supported at scale     ✓  GDPR &amp; RBI compliant by design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 &amp; Strategic Goals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77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78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28090"/>
                </a:solidFill>
              </a:rPr>
              <a:t>SCOPE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engine interpreting credit histories &amp; financial health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25856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pattern engine for intent signals &amp; engagement metrics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00837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interoperability with CRM, Core Banking &amp; LOS/LMS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75818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security &amp; regulatory compliance (GDPR + RBI)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8E0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78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1E2761"/>
                </a:solidFill>
              </a:rPr>
              <a:t>STRATEGIC GOALS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57276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21808" y="1508760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AI/ML-driven intelligence empowering personalised loan engagement at scale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232257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322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21808" y="2258568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business growth via measurable gains in conversion, retention &amp; LTV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07238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21808" y="3008376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removes licensing cost as a constraint on scaling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82219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822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21808" y="3758184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governance, privacy &amp; compliance built into the architecture by design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Recommendation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Approve Customer 360 as a strategic infrastructure investment.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99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Urgency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lenders are already approving loans in minutes. Customer 360 gives us the real-time infrastructure to compete and win.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87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816352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architecture eliminates vendor fees entirely. Scale without incremental licensing cost — a structural edge.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75304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474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803904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early-warning models protect the portfolio. Better risk visibility means fewer write-offs and stronger compliance posture.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 are requesting CTO sign-off to begin Phase 1 implementation.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93D6"/>
                </a:solidFill>
              </a:rPr>
              <a:t>Customer 360  ·  Next-Generation Customer Decision Platform  ·  Confidential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969</Words>
  <Application>Microsoft Office PowerPoint</Application>
  <PresentationFormat>On-screen Show (16:9)</PresentationFormat>
  <Paragraphs>136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360 – Next-Gen Customer Decision Platform</dc:title>
  <dc:subject>PptxGenJS Presentation</dc:subject>
  <dc:creator>PptxGenJS</dc:creator>
  <cp:lastModifiedBy>Mrityunjay Kumar</cp:lastModifiedBy>
  <cp:revision>2</cp:revision>
  <dcterms:created xsi:type="dcterms:W3CDTF">2026-06-25T08:02:10Z</dcterms:created>
  <dcterms:modified xsi:type="dcterms:W3CDTF">2026-06-25T08:10:31Z</dcterms:modified>
</cp:coreProperties>
</file>